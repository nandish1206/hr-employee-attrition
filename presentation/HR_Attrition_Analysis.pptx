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76C-43EA-B721-C75070CB2B16}"/>
              </c:ext>
            </c:extLst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76C-43EA-B721-C75070CB2B16}"/>
              </c:ext>
            </c:extLst>
          </c:dPt>
          <c:dLbls>
            <c:dLbl>
              <c:idx val="0"/>
              <c:numFmt formatCode="#,##0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76C-43EA-B721-C75070CB2B16}"/>
                </c:ext>
              </c:extLst>
            </c:dLbl>
            <c:dLbl>
              <c:idx val="1"/>
              <c:numFmt formatCode="#,##0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76C-43EA-B721-C75070CB2B16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Stayed</c:v>
                </c:pt>
                <c:pt idx="1">
                  <c:v>Left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1233</c:v>
                </c:pt>
                <c:pt idx="1">
                  <c:v>237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76C-43EA-B721-C75070CB2B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1E2761">
                <a:alpha val="9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F4C-4628-9B01-B6B2D5724BB6}"/>
              </c:ext>
            </c:extLst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F4C-4628-9B01-B6B2D5724BB6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Overtime</c:v>
                </c:pt>
                <c:pt idx="1">
                  <c:v>Overtime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10.44</c:v>
                </c:pt>
                <c:pt idx="1">
                  <c:v>30.53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F4C-4628-9B01-B6B2D5724B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1A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A1A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&lt;3000</c:v>
                </c:pt>
                <c:pt idx="1">
                  <c:v>3000–4999</c:v>
                </c:pt>
                <c:pt idx="2">
                  <c:v>5000–7999</c:v>
                </c:pt>
                <c:pt idx="3">
                  <c:v>8000–11999</c:v>
                </c:pt>
                <c:pt idx="4">
                  <c:v>12000+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28.61</c:v>
                </c:pt>
                <c:pt idx="1">
                  <c:v>14.12</c:v>
                </c:pt>
                <c:pt idx="2">
                  <c:v>10</c:v>
                </c:pt>
                <c:pt idx="3">
                  <c:v>15.59</c:v>
                </c:pt>
                <c:pt idx="4">
                  <c:v>5.64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22-4582-8E65-14125547C7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A1A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278-459C-845C-D2C449F7E09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278-459C-845C-D2C449F7E09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278-459C-845C-D2C449F7E09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278-459C-845C-D2C449F7E092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8278-459C-845C-D2C449F7E092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8278-459C-845C-D2C449F7E092}"/>
              </c:ext>
            </c:extLst>
          </c:dPt>
          <c:dPt>
            <c:idx val="6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278-459C-845C-D2C449F7E092}"/>
              </c:ext>
            </c:extLst>
          </c:dPt>
          <c:dPt>
            <c:idx val="7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8278-459C-845C-D2C449F7E092}"/>
              </c:ext>
            </c:extLst>
          </c:dPt>
          <c:dPt>
            <c:idx val="8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8278-459C-845C-D2C449F7E092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Research Director</c:v>
                </c:pt>
                <c:pt idx="1">
                  <c:v>Manager</c:v>
                </c:pt>
                <c:pt idx="2">
                  <c:v>Manufacturing Director</c:v>
                </c:pt>
                <c:pt idx="3">
                  <c:v>Healthcare Rep.</c:v>
                </c:pt>
                <c:pt idx="4">
                  <c:v>Research Scientist</c:v>
                </c:pt>
                <c:pt idx="5">
                  <c:v>Sales Executive</c:v>
                </c:pt>
                <c:pt idx="6">
                  <c:v>HR</c:v>
                </c:pt>
                <c:pt idx="7">
                  <c:v>Laboratory Technician</c:v>
                </c:pt>
                <c:pt idx="8">
                  <c:v>Sales Representative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2.5</c:v>
                </c:pt>
                <c:pt idx="1">
                  <c:v>4.9000000000000004</c:v>
                </c:pt>
                <c:pt idx="2">
                  <c:v>6.9</c:v>
                </c:pt>
                <c:pt idx="3">
                  <c:v>6.87</c:v>
                </c:pt>
                <c:pt idx="4">
                  <c:v>16.100000000000001</c:v>
                </c:pt>
                <c:pt idx="5">
                  <c:v>17.48</c:v>
                </c:pt>
                <c:pt idx="6">
                  <c:v>23.08</c:v>
                </c:pt>
                <c:pt idx="7">
                  <c:v>23.94</c:v>
                </c:pt>
                <c:pt idx="8">
                  <c:v>39.76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8278-459C-845C-D2C449F7E0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02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548640"/>
            <a:ext cx="2011680" cy="2011680"/>
          </a:xfrm>
          <a:prstGeom prst="ellipse">
            <a:avLst/>
          </a:prstGeom>
          <a:solidFill>
            <a:srgbClr val="2A35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247120" y="2377440"/>
            <a:ext cx="1005840" cy="1005840"/>
          </a:xfrm>
          <a:prstGeom prst="ellipse">
            <a:avLst/>
          </a:prstGeom>
          <a:solidFill>
            <a:srgbClr val="364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EMPLOYEE ATTRITION ANALYSIS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546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Employee Attrition Drivers &amp; Identifying High-Risk Segments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886200"/>
            <a:ext cx="27432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9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SQL  ·  Excel  ·  Power BI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9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166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Analytics Employee Attrition Dataset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989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analysis to identify employee segments associated with higher attrition and provide actionable HR recommendations.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08483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58191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3055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06624" y="1417320"/>
            <a:ext cx="208483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2798064" y="158191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237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798064" y="213055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Left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56048" y="1417320"/>
            <a:ext cx="208483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5047488" y="158191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16.12%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047488" y="213055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05472" y="1417320"/>
            <a:ext cx="208483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296912" y="158191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6,502.93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296912" y="213055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Monthly Income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454896" y="1417320"/>
            <a:ext cx="208483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9546336" y="158191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7.01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546336" y="213055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Years at Company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880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246120"/>
            <a:ext cx="6583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is strongly associated with attrition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with 0–2 years of tenure show substantially higher attrition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Lower-income employees have higher observed attrition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Representatives and Laboratory Technicians are among the highest-risk roles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and shorter-tenure employees show higher observed attrition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2880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ATTRITION: STAYED VS LEFT</a:t>
            </a:r>
            <a:endParaRPr lang="en-US" sz="13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7406640" y="3200400"/>
          <a:ext cx="42976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Attrition Analysis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Attrition Drivers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OVERTIME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37360"/>
          <a:ext cx="365760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749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working overtime show ~3× the observed attrition rate of those without.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43434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INCOME BAND</a:t>
            </a:r>
            <a:endParaRPr lang="en-US" sz="12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4343400" y="1737360"/>
          <a:ext cx="365760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343400" y="3749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lowest-income segment shows substantially higher observed attrition.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22960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TENURE + OVERTIME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0" y="1737360"/>
          <a:ext cx="3474720" cy="17373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Tenure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0–2 Yrs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20.59%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50.96%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3–5 Yrs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7.82%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28.35%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6–10 Yrs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7.32%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25.83%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11+ Yrs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7.18%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10.77%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8229600" y="36576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Early-tenure employees working overtime form an especially high-risk segment.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57200" y="4617720"/>
            <a:ext cx="11247120" cy="1417320"/>
          </a:xfrm>
          <a:prstGeom prst="roundRect">
            <a:avLst>
              <a:gd name="adj" fmla="val 387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9"/>
          <p:cNvSpPr txBox="1"/>
          <p:nvPr/>
        </p:nvSpPr>
        <p:spPr>
          <a:xfrm>
            <a:off x="77724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777240" y="51206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400" dirty="0">
                <a:solidFill>
                  <a:schemeClr val="bg1"/>
                </a:solidFill>
              </a:rPr>
              <a:t>Overtime, lower income, and shorter tenure are important areas for HR to investigate, with early-tenure employees working overtime showing particularly high observed attrition.</a:t>
            </a:r>
          </a:p>
        </p:txBody>
      </p:sp>
      <p:sp>
        <p:nvSpPr>
          <p:cNvPr id="16" name="Text 11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Attrition Analysis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High-Risk Employee Segments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BY JOB ROLE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37360"/>
          <a:ext cx="62179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94944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OBSERVED-RISK ROLES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949440" y="1783080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0C4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086600" y="1874520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7498080" y="18013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Representative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10149840" y="180136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39.76%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949440" y="2350008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0C4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086600" y="2441448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7498080" y="2368296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Technician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10149840" y="2368296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23.94%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949440" y="2916936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0C4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7086600" y="3008376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7498080" y="2935224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0149840" y="2935224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23.08%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3657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TENURE (0–2 YRS) + ROLE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3977640"/>
          <a:ext cx="4754880" cy="141732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Job Role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0–2 Yr Attrition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Sales Representative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43.75%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Laboratory Technician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39.77%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Sales Executive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31.25%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Research Scientist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23.53%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6949440" y="5532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Some role/tenure groups have relatively small sample sizes — interpret these rates cautiously.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Attrition Analysis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Evidence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749040" cy="2880360"/>
          </a:xfrm>
          <a:prstGeom prst="roundRect">
            <a:avLst>
              <a:gd name="adj" fmla="val 254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85800" y="16276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Overtime &amp; Attrition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23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87.56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statistic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3383280"/>
            <a:ext cx="3291840" cy="0"/>
          </a:xfrm>
          <a:prstGeom prst="line">
            <a:avLst/>
          </a:prstGeom>
          <a:noFill/>
          <a:ln w="12700">
            <a:solidFill>
              <a:srgbClr val="3E4A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85800" y="3520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FE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&lt; 0.001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9776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D7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statistically significant association between overtime status and employee attrition.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1417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WELCH'S T-TEST — NUMERIC VARIABLES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783080"/>
          <a:ext cx="7132320" cy="2514603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2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Stayed Avg.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Left Avg.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Monthly Income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6,832.74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4,787.09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8A70"/>
                          </a:solidFill>
                        </a:rPr>
                        <a:t>&lt;0.001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Age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37.56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33.61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8A70"/>
                          </a:solidFill>
                        </a:rPr>
                        <a:t>&lt;0.001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Years at Company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7.37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5.13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8A70"/>
                          </a:solidFill>
                        </a:rPr>
                        <a:t>&lt;0.001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Years in Current Role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4.48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2.90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8A70"/>
                          </a:solidFill>
                        </a:rPr>
                        <a:t>&lt;0.001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Distance from Home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8.92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10.63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8A70"/>
                          </a:solidFill>
                        </a:rPr>
                        <a:t>0.004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i="1" dirty="0">
                          <a:solidFill>
                            <a:srgbClr val="1A1A2E"/>
                          </a:solidFill>
                        </a:rPr>
                        <a:t>Years Since Last Promotion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1A1A2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1A1A2E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i="1" dirty="0">
                          <a:solidFill>
                            <a:srgbClr val="6B7280"/>
                          </a:solidFill>
                        </a:rPr>
                        <a:t>0.199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572000" y="4526280"/>
            <a:ext cx="713232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4846320" y="46817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498348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tested variables showed statistically significant differences between employees who stayed and those who left. </a:t>
            </a: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Since Last Promotion was not statistically significant at the 5% level.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Attrition Analysis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HR Actions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184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Overtime Exposure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402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workload distribution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employees with sustained overtime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workload balancing initiatives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00800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4008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16184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Strengthen Early-Tenure Retention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2402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onboarding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30/60/90-day check-ins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mentoring for new employees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early-tenure attrition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85800" y="3794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858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76732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on High-Risk Roles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38912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Representatives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Technicians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Executives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56616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00800" y="3794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4008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376732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 Compensation Risk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38912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lower-income employee segments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compensation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career progression opportunities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 workload / lower pay overlap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62356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731520" y="56235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workload, early-tenure support, compensation, and high-risk job roles.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Attrition Analysis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548640"/>
            <a:ext cx="2194560" cy="2194560"/>
          </a:xfrm>
          <a:prstGeom prst="ellipse">
            <a:avLst/>
          </a:prstGeom>
          <a:solidFill>
            <a:srgbClr val="2A35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9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Analysis Tells Us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36192"/>
            <a:ext cx="384048" cy="384048"/>
          </a:xfrm>
          <a:prstGeom prst="ellipse">
            <a:avLst/>
          </a:prstGeom>
          <a:solidFill>
            <a:srgbClr val="2A3575"/>
          </a:solidFill>
          <a:ln w="12700">
            <a:solidFill>
              <a:srgbClr val="5865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4008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4904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is concentrated in specific employee segments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81965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4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attrition is 16.12%, but certain roles and employee groups experience considerably higher observed attrition.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384048" cy="384048"/>
          </a:xfrm>
          <a:prstGeom prst="ellipse">
            <a:avLst/>
          </a:prstGeom>
          <a:solidFill>
            <a:srgbClr val="2A3575"/>
          </a:solidFill>
          <a:ln w="12700">
            <a:solidFill>
              <a:srgbClr val="5865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4008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51460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is a major warning signal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84378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4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rises from 10.44% to 30.53% for employees without vs. with overtime.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584448"/>
            <a:ext cx="384048" cy="384048"/>
          </a:xfrm>
          <a:prstGeom prst="ellipse">
            <a:avLst/>
          </a:prstGeom>
          <a:solidFill>
            <a:srgbClr val="2A3575"/>
          </a:solidFill>
          <a:ln w="12700">
            <a:solidFill>
              <a:srgbClr val="5865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4008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53872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Early-tenure employees need attention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86791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4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in their first 2 years show significantly higher observed attrition, particularly when overtime is involved.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608576"/>
            <a:ext cx="384048" cy="384048"/>
          </a:xfrm>
          <a:prstGeom prst="ellipse">
            <a:avLst/>
          </a:prstGeom>
          <a:solidFill>
            <a:srgbClr val="2A3575"/>
          </a:solidFill>
          <a:ln w="12700">
            <a:solidFill>
              <a:srgbClr val="5865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40080" y="4608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56285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and employee characteristics matter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8920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4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who left had lower average monthly income, were younger, had shorter tenure, and lived farther from work on average.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715000"/>
            <a:ext cx="10881360" cy="0"/>
          </a:xfrm>
          <a:prstGeom prst="line">
            <a:avLst/>
          </a:prstGeom>
          <a:noFill/>
          <a:ln w="12700">
            <a:solidFill>
              <a:srgbClr val="3E4A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640080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824727"/>
            <a:ext cx="10515600" cy="612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100" b="1" kern="0" spc="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IN" dirty="0"/>
              <a:t>FINAL TAKEAWAY</a:t>
            </a:r>
          </a:p>
          <a:p>
            <a:r>
              <a:rPr lang="en-IN" dirty="0">
                <a:solidFill>
                  <a:schemeClr val="bg1"/>
                </a:solidFill>
              </a:rPr>
              <a:t>Focus retention efforts on workload management, early-tenure support, compensation, and high-risk job roles.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652</Words>
  <Application>Microsoft Office PowerPoint</Application>
  <PresentationFormat>Widescreen</PresentationFormat>
  <Paragraphs>173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Nandish M</cp:lastModifiedBy>
  <cp:revision>3</cp:revision>
  <dcterms:created xsi:type="dcterms:W3CDTF">2026-09-12T10:13:57Z</dcterms:created>
  <dcterms:modified xsi:type="dcterms:W3CDTF">2026-09-12T10:21:14Z</dcterms:modified>
</cp:coreProperties>
</file>